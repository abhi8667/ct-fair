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48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sha naik" userId="2bec52d7e14f8a72" providerId="LiveId" clId="{FB944039-DAFC-4430-8F3D-2D23090D4003}"/>
    <pc:docChg chg="custSel modSld">
      <pc:chgData name="Monisha naik" userId="2bec52d7e14f8a72" providerId="LiveId" clId="{FB944039-DAFC-4430-8F3D-2D23090D4003}" dt="2026-10-12T17:32:53.394" v="0" actId="478"/>
      <pc:docMkLst>
        <pc:docMk/>
      </pc:docMkLst>
      <pc:sldChg chg="delSp mod">
        <pc:chgData name="Monisha naik" userId="2bec52d7e14f8a72" providerId="LiveId" clId="{FB944039-DAFC-4430-8F3D-2D23090D4003}" dt="2026-10-12T17:32:53.394" v="0" actId="478"/>
        <pc:sldMkLst>
          <pc:docMk/>
          <pc:sldMk cId="0" sldId="256"/>
        </pc:sldMkLst>
        <pc:picChg chg="del">
          <ac:chgData name="Monisha naik" userId="2bec52d7e14f8a72" providerId="LiveId" clId="{FB944039-DAFC-4430-8F3D-2D23090D4003}" dt="2026-10-12T17:32:53.394" v="0" actId="478"/>
          <ac:picMkLst>
            <pc:docMk/>
            <pc:sldMk cId="0" sldId="256"/>
            <ac:picMk id="37" creationId="{F1099197-404F-24CE-5183-99AA7940EB0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55250-79A0-4CFE-82E9-2BFEF0ED51D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E4EF1-1F7F-4584-8733-75944212F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002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E4EF1-1F7F-4584-8733-75944212FB7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318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840" y="-8357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0622" y="8357"/>
            <a:ext cx="4366031" cy="6858000"/>
          </a:xfrm>
          <a:prstGeom prst="rect">
            <a:avLst/>
          </a:prstGeom>
          <a:solidFill>
            <a:srgbClr val="3B0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 flipV="1">
            <a:off x="539496" y="1585329"/>
            <a:ext cx="1600200" cy="1691640"/>
          </a:xfrm>
          <a:prstGeom prst="line">
            <a:avLst/>
          </a:prstGeom>
          <a:ln w="12700">
            <a:solidFill>
              <a:srgbClr val="75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955548" y="1585329"/>
            <a:ext cx="1600200" cy="1691640"/>
          </a:xfrm>
          <a:prstGeom prst="line">
            <a:avLst/>
          </a:prstGeom>
          <a:ln w="12700">
            <a:solidFill>
              <a:srgbClr val="75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376516" y="1554480"/>
            <a:ext cx="1600200" cy="1691640"/>
          </a:xfrm>
          <a:prstGeom prst="line">
            <a:avLst/>
          </a:prstGeom>
          <a:ln w="12700">
            <a:solidFill>
              <a:srgbClr val="75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788795" y="1569547"/>
            <a:ext cx="1600200" cy="1691640"/>
          </a:xfrm>
          <a:prstGeom prst="line">
            <a:avLst/>
          </a:prstGeom>
          <a:ln w="12700">
            <a:solidFill>
              <a:srgbClr val="75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193638" y="1576552"/>
            <a:ext cx="1600200" cy="1691640"/>
          </a:xfrm>
          <a:prstGeom prst="line">
            <a:avLst/>
          </a:prstGeom>
          <a:ln w="12700">
            <a:solidFill>
              <a:srgbClr val="75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cxnSpLocks/>
          </p:cNvCxnSpPr>
          <p:nvPr/>
        </p:nvCxnSpPr>
        <p:spPr>
          <a:xfrm flipV="1">
            <a:off x="2588895" y="1631631"/>
            <a:ext cx="1529677" cy="1627781"/>
          </a:xfrm>
          <a:prstGeom prst="line">
            <a:avLst/>
          </a:prstGeom>
          <a:ln w="12700">
            <a:solidFill>
              <a:srgbClr val="75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3437357"/>
            <a:ext cx="3108960" cy="0"/>
          </a:xfrm>
          <a:prstGeom prst="line">
            <a:avLst/>
          </a:prstGeom>
          <a:ln w="7620">
            <a:solidFill>
              <a:srgbClr val="75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0630" y="3756906"/>
            <a:ext cx="3108960" cy="0"/>
          </a:xfrm>
          <a:prstGeom prst="line">
            <a:avLst/>
          </a:prstGeom>
          <a:ln w="7620">
            <a:solidFill>
              <a:srgbClr val="75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34415" y="4073996"/>
            <a:ext cx="3108960" cy="0"/>
          </a:xfrm>
          <a:prstGeom prst="line">
            <a:avLst/>
          </a:prstGeom>
          <a:ln w="7620">
            <a:solidFill>
              <a:srgbClr val="75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</p:cNvCxnSpPr>
          <p:nvPr/>
        </p:nvCxnSpPr>
        <p:spPr>
          <a:xfrm>
            <a:off x="1325880" y="4334084"/>
            <a:ext cx="2951152" cy="0"/>
          </a:xfrm>
          <a:prstGeom prst="line">
            <a:avLst/>
          </a:prstGeom>
          <a:ln w="7620">
            <a:solidFill>
              <a:srgbClr val="75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</p:cNvCxnSpPr>
          <p:nvPr/>
        </p:nvCxnSpPr>
        <p:spPr>
          <a:xfrm>
            <a:off x="1686724" y="4641285"/>
            <a:ext cx="2590308" cy="0"/>
          </a:xfrm>
          <a:prstGeom prst="line">
            <a:avLst/>
          </a:prstGeom>
          <a:ln w="7620">
            <a:solidFill>
              <a:srgbClr val="754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</p:cNvCxnSpPr>
          <p:nvPr/>
        </p:nvCxnSpPr>
        <p:spPr>
          <a:xfrm>
            <a:off x="4434840" y="3246120"/>
            <a:ext cx="7646434" cy="0"/>
          </a:xfrm>
          <a:prstGeom prst="line">
            <a:avLst/>
          </a:prstGeom>
          <a:ln w="25400">
            <a:solidFill>
              <a:srgbClr val="D8C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70603" y="3313708"/>
            <a:ext cx="662940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000" b="0" i="0">
                <a:solidFill>
                  <a:srgbClr val="34252B"/>
                </a:solidFill>
                <a:latin typeface="Aptos"/>
              </a:defRPr>
            </a:pPr>
            <a:r>
              <a:rPr lang="en-IN" sz="2400" dirty="0">
                <a:solidFill>
                  <a:schemeClr val="accent2">
                    <a:lumMod val="50000"/>
                  </a:schemeClr>
                </a:solidFill>
                <a:latin typeface="Script MT Bold" panose="03040602040607080904" pitchFamily="66" charset="0"/>
              </a:rPr>
              <a:t>Where Concrete Meets Creativity</a:t>
            </a:r>
            <a:endParaRPr sz="2400" dirty="0">
              <a:solidFill>
                <a:schemeClr val="accent2">
                  <a:lumMod val="50000"/>
                </a:schemeClr>
              </a:solidFill>
              <a:latin typeface="Script MT Bold" panose="03040602040607080904" pitchFamily="66" charset="0"/>
            </a:endParaRPr>
          </a:p>
        </p:txBody>
      </p:sp>
      <p:pic>
        <p:nvPicPr>
          <p:cNvPr id="39" name="object 6">
            <a:extLst>
              <a:ext uri="{FF2B5EF4-FFF2-40B4-BE49-F238E27FC236}">
                <a16:creationId xmlns:a16="http://schemas.microsoft.com/office/drawing/2014/main" id="{105AF641-80CC-41C4-16A3-87D0FF0C6EA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29260" y="245040"/>
            <a:ext cx="1049380" cy="916589"/>
          </a:xfrm>
          <a:prstGeom prst="rect">
            <a:avLst/>
          </a:prstGeom>
        </p:spPr>
      </p:pic>
      <p:pic>
        <p:nvPicPr>
          <p:cNvPr id="42" name="object 3">
            <a:extLst>
              <a:ext uri="{FF2B5EF4-FFF2-40B4-BE49-F238E27FC236}">
                <a16:creationId xmlns:a16="http://schemas.microsoft.com/office/drawing/2014/main" id="{857082E1-4301-D9C2-6662-05E7AE5C9DD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726" y="115980"/>
            <a:ext cx="1064931" cy="107274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08862E39-EC0A-1AF4-A5C5-E314E40226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9588" y="1385837"/>
            <a:ext cx="7566151" cy="252205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3DC4E0E-BC7D-3471-31AD-B1B36D5CA374}"/>
              </a:ext>
            </a:extLst>
          </p:cNvPr>
          <p:cNvSpPr txBox="1"/>
          <p:nvPr/>
        </p:nvSpPr>
        <p:spPr>
          <a:xfrm>
            <a:off x="-527518" y="454888"/>
            <a:ext cx="667512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1" i="0">
                <a:solidFill>
                  <a:srgbClr val="77666A"/>
                </a:solidFill>
                <a:latin typeface="Aptos"/>
              </a:defRPr>
            </a:pPr>
            <a:r>
              <a:rPr sz="1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CIVIL ENGINEERING  </a:t>
            </a:r>
            <a:endParaRPr lang="en-IN" sz="1400"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>
              <a:defRPr sz="900" b="1" i="0">
                <a:solidFill>
                  <a:srgbClr val="77666A"/>
                </a:solidFill>
                <a:latin typeface="Aptos"/>
              </a:defRPr>
            </a:pPr>
            <a:r>
              <a:rPr sz="1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RV COLLEGE OF ENGINEERING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7FDE7071-E7DF-AC72-78AD-C860022ED1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9842" y="4240404"/>
            <a:ext cx="3945897" cy="267353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B8274BE2-1171-8081-F9EE-AF049E3192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5" y="4391087"/>
            <a:ext cx="2789846" cy="2482338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9C1CA774-E0B0-9345-1C28-E4413572F7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5069" y="3656971"/>
            <a:ext cx="3486356" cy="13941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21811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 i="0">
                <a:solidFill>
                  <a:srgbClr val="3B0924"/>
                </a:solidFill>
                <a:latin typeface="Aptos"/>
              </a:defRPr>
            </a:pPr>
            <a:r>
              <a:rPr dirty="0"/>
              <a:t>More than a fest. A meeting point for the built environment.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006234"/>
            <a:ext cx="11000232" cy="0"/>
          </a:xfrm>
          <a:prstGeom prst="line">
            <a:avLst/>
          </a:prstGeom>
          <a:ln w="12700">
            <a:solidFill>
              <a:srgbClr val="EADF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 i="0">
                <a:solidFill>
                  <a:srgbClr val="3B092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92901" y="1536192"/>
            <a:ext cx="4892040" cy="4343400"/>
          </a:xfrm>
          <a:prstGeom prst="roundRect">
            <a:avLst>
              <a:gd name="adj" fmla="val 8000"/>
            </a:avLst>
          </a:prstGeom>
          <a:solidFill>
            <a:srgbClr val="3B0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60" y="1965960"/>
            <a:ext cx="40690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 i="0">
                <a:solidFill>
                  <a:srgbClr val="D8C2AB"/>
                </a:solidFill>
                <a:latin typeface="Aptos"/>
              </a:defRPr>
            </a:pPr>
            <a:r>
              <a:rPr sz="1400" dirty="0"/>
              <a:t>THE CONCRETE FAIR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83488"/>
            <a:ext cx="4023360" cy="12280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 i="0">
                <a:solidFill>
                  <a:srgbClr val="FFF8EF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Learn by doing.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Compete with purpose.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Connect with industry</a:t>
            </a:r>
            <a:r>
              <a:rPr dirty="0"/>
              <a:t>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0" y="3956256"/>
            <a:ext cx="3931920" cy="0"/>
          </a:xfrm>
          <a:prstGeom prst="line">
            <a:avLst/>
          </a:prstGeom>
          <a:ln w="15240">
            <a:solidFill>
              <a:srgbClr val="8B5D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063740" y="4190588"/>
            <a:ext cx="3931920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just">
              <a:defRPr sz="1400" b="0" i="0">
                <a:solidFill>
                  <a:srgbClr val="F4E9DC"/>
                </a:solidFill>
                <a:latin typeface="Aptos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</a:rPr>
              <a:t>A national-level platform designed to turn classroom knowledge into practical thinking and real-world perspectives.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7BE38B-4E2F-6DAA-022E-D0E3617BC36C}"/>
              </a:ext>
            </a:extLst>
          </p:cNvPr>
          <p:cNvSpPr txBox="1"/>
          <p:nvPr/>
        </p:nvSpPr>
        <p:spPr>
          <a:xfrm>
            <a:off x="110032" y="1124712"/>
            <a:ext cx="6654562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pPr algn="just"/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Concrete Fair 2026 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 a national-level technical fest organized by the 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Civil Engineering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 RV College of Engineering, Bengaluru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in association with the 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ICI Chapter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endParaRPr lang="en-US" sz="1400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With a legacy of bringing together aspiring civil engineers, Concrete Fair provides a dynamic platform for technical excellence, creative thinking, practical learning, and collaboration.</a:t>
            </a:r>
          </a:p>
          <a:p>
            <a:pPr algn="just"/>
            <a:endParaRPr lang="en-US" sz="1400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Bringing together 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800+ participants 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from across India, the fest celebrates engineering talent while fostering connections between students, academia, and the construction industry.</a:t>
            </a:r>
          </a:p>
          <a:p>
            <a:endParaRPr lang="en-US" sz="1400" b="1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Highlights</a:t>
            </a:r>
          </a:p>
          <a:p>
            <a:endParaRPr lang="en-US" sz="1400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13th Edition</a:t>
            </a:r>
          </a:p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Continuing a legacy of technical excellence.</a:t>
            </a:r>
          </a:p>
          <a:p>
            <a:endParaRPr lang="en-US" sz="1400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800+ Participants</a:t>
            </a:r>
          </a:p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Bringing engineering minds together from across Karnataka.</a:t>
            </a:r>
          </a:p>
          <a:p>
            <a:endParaRPr lang="en-US" sz="1400" b="1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Technical Excellence</a:t>
            </a:r>
          </a:p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Turning classroom concepts into practical challenges.</a:t>
            </a:r>
          </a:p>
          <a:p>
            <a:endParaRPr lang="en-US" sz="1400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Industry Connect</a:t>
            </a:r>
          </a:p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Creating opportunities to engage with the civil engineering community.</a:t>
            </a:r>
            <a:endParaRPr lang="en-IN" sz="1400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0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 i="0">
                <a:solidFill>
                  <a:srgbClr val="FFF8EF"/>
                </a:solidFill>
                <a:latin typeface="Aptos"/>
              </a:defRPr>
            </a:pPr>
            <a:r>
              <a:t>A proven platform with room to grow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D8C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 i="0">
                <a:solidFill>
                  <a:srgbClr val="FFF8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521331"/>
          </a:solidFill>
          <a:ln w="12700">
            <a:solidFill>
              <a:srgbClr val="75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56816"/>
            <a:ext cx="28346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 i="0">
                <a:solidFill>
                  <a:srgbClr val="FFF8EF"/>
                </a:solidFill>
                <a:latin typeface="Aptos"/>
              </a:defRPr>
            </a:pPr>
            <a:r>
              <a:rPr dirty="0"/>
              <a:t>13th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 i="0">
                <a:solidFill>
                  <a:srgbClr val="D8C2AB"/>
                </a:solidFill>
                <a:latin typeface="Aptos"/>
              </a:defRPr>
            </a:pPr>
            <a:r>
              <a:rPr dirty="0"/>
              <a:t>EDITION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73736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521331"/>
          </a:solidFill>
          <a:ln w="12700">
            <a:solidFill>
              <a:srgbClr val="75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956816"/>
            <a:ext cx="28346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 i="0">
                <a:solidFill>
                  <a:srgbClr val="FFF8EF"/>
                </a:solidFill>
                <a:latin typeface="Aptos"/>
              </a:defRPr>
            </a:pPr>
            <a:r>
              <a:t>800+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87752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 i="0">
                <a:solidFill>
                  <a:srgbClr val="D8C2AB"/>
                </a:solidFill>
                <a:latin typeface="Aptos"/>
              </a:defRPr>
            </a:pPr>
            <a:r>
              <a:t>EXPECTED PARTICIPANTS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73736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521331"/>
          </a:solidFill>
          <a:ln w="12700">
            <a:solidFill>
              <a:srgbClr val="75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1956816"/>
            <a:ext cx="28346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 i="0">
                <a:solidFill>
                  <a:srgbClr val="FFF8EF"/>
                </a:solidFill>
                <a:latin typeface="Aptos"/>
              </a:defRPr>
            </a:pPr>
            <a:r>
              <a:t>5,000+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587752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 i="0">
                <a:solidFill>
                  <a:srgbClr val="D8C2AB"/>
                </a:solidFill>
                <a:latin typeface="Aptos"/>
              </a:defRPr>
            </a:pPr>
            <a:r>
              <a:t>PARTICIPANTS ACROSS PREVIOUS EDITIONS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03320"/>
            <a:ext cx="47548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 i="0">
                <a:solidFill>
                  <a:srgbClr val="D8C2AB"/>
                </a:solidFill>
                <a:latin typeface="Aptos"/>
              </a:defRPr>
            </a:pPr>
            <a:r>
              <a:t>WHY IT MATTERS TO SPONSORS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4754880" cy="1600200"/>
          </a:xfrm>
          <a:prstGeom prst="rect">
            <a:avLst/>
          </a:prstGeom>
          <a:noFill/>
        </p:spPr>
        <p:txBody>
          <a:bodyPr wrap="square" lIns="36576" tIns="36576" rIns="36576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8EF"/>
                </a:solidFill>
                <a:latin typeface="Aptos"/>
              </a:defRPr>
            </a:pPr>
            <a:r>
              <a:rPr dirty="0"/>
              <a:t>•  Engage with a concentrated community of future civil engineers.</a:t>
            </a:r>
          </a:p>
          <a:p>
            <a:pPr>
              <a:spcAft>
                <a:spcPts val="800"/>
              </a:spcAft>
              <a:defRPr sz="1400">
                <a:solidFill>
                  <a:srgbClr val="FFF8EF"/>
                </a:solidFill>
                <a:latin typeface="Aptos"/>
              </a:defRPr>
            </a:pPr>
            <a:r>
              <a:rPr dirty="0"/>
              <a:t>•  Build brand familiarity through event and digital visibility.</a:t>
            </a:r>
          </a:p>
          <a:p>
            <a:pPr>
              <a:spcAft>
                <a:spcPts val="800"/>
              </a:spcAft>
              <a:defRPr sz="1400">
                <a:solidFill>
                  <a:srgbClr val="FFF8EF"/>
                </a:solidFill>
                <a:latin typeface="Aptos"/>
              </a:defRPr>
            </a:pPr>
            <a:r>
              <a:rPr dirty="0"/>
              <a:t>•  Create meaningful touchpoints around construction and infrastructure.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703320"/>
            <a:ext cx="5212080" cy="1965960"/>
          </a:xfrm>
          <a:prstGeom prst="roundRect">
            <a:avLst>
              <a:gd name="adj" fmla="val 8000"/>
            </a:avLst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977639"/>
            <a:ext cx="4526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 i="0">
                <a:solidFill>
                  <a:srgbClr val="3B0924"/>
                </a:solidFill>
                <a:latin typeface="Aptos"/>
              </a:defRPr>
            </a:pPr>
            <a:r>
              <a:t>A NOTE ON THE NUMBERS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34840"/>
            <a:ext cx="452628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 i="0">
                <a:solidFill>
                  <a:srgbClr val="34252B"/>
                </a:solidFill>
                <a:latin typeface="Aptos"/>
              </a:defRPr>
            </a:pPr>
            <a:r>
              <a:rPr dirty="0"/>
              <a:t>The 2026 brochure states 5,000+ participants across previous editions. The current edition is planned around 800+ participants from across</a:t>
            </a:r>
            <a:r>
              <a:rPr lang="en-IN" dirty="0"/>
              <a:t> Karnataka.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 i="0">
                <a:solidFill>
                  <a:srgbClr val="3B0924"/>
                </a:solidFill>
                <a:latin typeface="Aptos"/>
              </a:defRPr>
            </a:pPr>
            <a:r>
              <a:rPr dirty="0"/>
              <a:t>04 • WHAT MAKES US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 i="0">
                <a:solidFill>
                  <a:srgbClr val="3B0924"/>
                </a:solidFill>
                <a:latin typeface="Aptos"/>
              </a:defRPr>
            </a:pPr>
            <a:r>
              <a:t>Designed for technical depth. Built for participation.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ADF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 i="0">
                <a:solidFill>
                  <a:srgbClr val="3B092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663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476402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 i="0">
                <a:solidFill>
                  <a:srgbClr val="A98B78"/>
                </a:solidFill>
                <a:latin typeface="Aptos"/>
              </a:defRPr>
            </a:pPr>
            <a:r>
              <a:t>VALUE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476402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 i="0">
                <a:solidFill>
                  <a:srgbClr val="3B0924"/>
                </a:solidFill>
                <a:latin typeface="Aptos"/>
              </a:defRPr>
            </a:pPr>
            <a:r>
              <a:t>CODE TO CONCRETE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60320"/>
            <a:ext cx="4764024" cy="5669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50" b="0" i="0">
                <a:solidFill>
                  <a:srgbClr val="77666A"/>
                </a:solidFill>
                <a:latin typeface="Aptos"/>
              </a:defRPr>
            </a:pPr>
            <a:r>
              <a:t>Move beyond theory through mix-design, concrete testing and code-based challenges.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1663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810512"/>
            <a:ext cx="476402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 i="0">
                <a:solidFill>
                  <a:srgbClr val="A98B78"/>
                </a:solidFill>
                <a:latin typeface="Aptos"/>
              </a:defRPr>
            </a:pPr>
            <a:r>
              <a:t>VALUE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21408"/>
            <a:ext cx="476402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 i="0">
                <a:solidFill>
                  <a:srgbClr val="3B0924"/>
                </a:solidFill>
                <a:latin typeface="Aptos"/>
              </a:defRPr>
            </a:pPr>
            <a:r>
              <a:t>DESIGN TO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560320"/>
            <a:ext cx="4764024" cy="5669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50" b="0" i="0">
                <a:solidFill>
                  <a:srgbClr val="77666A"/>
                </a:solidFill>
                <a:latin typeface="Aptos"/>
              </a:defRPr>
            </a:pPr>
            <a:r>
              <a:t>Translate ideas into drawings, models, structures and town-planning concepts.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11880"/>
            <a:ext cx="51663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776472"/>
            <a:ext cx="476402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 i="0">
                <a:solidFill>
                  <a:srgbClr val="A98B78"/>
                </a:solidFill>
                <a:latin typeface="Aptos"/>
              </a:defRPr>
            </a:pPr>
            <a:r>
              <a:t>VALUE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087368"/>
            <a:ext cx="476402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 i="0">
                <a:solidFill>
                  <a:srgbClr val="3B0924"/>
                </a:solidFill>
                <a:latin typeface="Aptos"/>
              </a:defRPr>
            </a:pPr>
            <a:r>
              <a:t>FIELD TO PROBLEM-SOLVING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526280"/>
            <a:ext cx="4764024" cy="5669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50" b="0" i="0">
                <a:solidFill>
                  <a:srgbClr val="77666A"/>
                </a:solidFill>
                <a:latin typeface="Aptos"/>
              </a:defRPr>
            </a:pPr>
            <a:r>
              <a:t>Bring surveying, escape-room logic and real-world case studies into the learning experience.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11880"/>
            <a:ext cx="51663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3776472"/>
            <a:ext cx="476402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 i="0">
                <a:solidFill>
                  <a:srgbClr val="A98B78"/>
                </a:solidFill>
                <a:latin typeface="Aptos"/>
              </a:defRPr>
            </a:pPr>
            <a:r>
              <a:t>VALUE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087368"/>
            <a:ext cx="476402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 i="0">
                <a:solidFill>
                  <a:srgbClr val="3B0924"/>
                </a:solidFill>
                <a:latin typeface="Aptos"/>
              </a:defRPr>
            </a:pPr>
            <a:r>
              <a:t>TECHNICAL + CREATIVE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526280"/>
            <a:ext cx="4764024" cy="5669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50" b="0" i="0">
                <a:solidFill>
                  <a:srgbClr val="77666A"/>
                </a:solidFill>
                <a:latin typeface="Aptos"/>
              </a:defRPr>
            </a:pPr>
            <a:r>
              <a:t>Balance engineering knowledge with debate, short films, quizzes and teamwork.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 i="0">
                <a:solidFill>
                  <a:srgbClr val="3B0924"/>
                </a:solidFill>
                <a:latin typeface="Aptos"/>
              </a:defRPr>
            </a:pPr>
            <a:r>
              <a:t>Concrete Fair connects technical learning with communication, creativity and collaborative problem-solving.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0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 i="0">
                <a:solidFill>
                  <a:srgbClr val="FFF8EF"/>
                </a:solidFill>
                <a:latin typeface="Aptos"/>
              </a:defRPr>
            </a:pPr>
            <a:r>
              <a:t>05 • CONCRETE FAIR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 i="0">
                <a:solidFill>
                  <a:srgbClr val="FFF8EF"/>
                </a:solidFill>
                <a:latin typeface="Aptos"/>
              </a:defRPr>
            </a:pPr>
            <a:r>
              <a:t>Eight event experiences. One connected community.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D8C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 i="0">
                <a:solidFill>
                  <a:srgbClr val="FFF8E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0" i="0">
                <a:solidFill>
                  <a:srgbClr val="F4E9DC"/>
                </a:solidFill>
                <a:latin typeface="Aptos"/>
              </a:defRPr>
            </a:pPr>
            <a:r>
              <a:t>The current edition combines hands-on civil engineering challenges with creative and communication-led events.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212080" cy="3246120"/>
          </a:xfrm>
          <a:prstGeom prst="roundRect">
            <a:avLst>
              <a:gd name="adj" fmla="val 8000"/>
            </a:avLst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44805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 i="0">
                <a:solidFill>
                  <a:srgbClr val="A98B78"/>
                </a:solidFill>
                <a:latin typeface="Aptos"/>
              </a:defRPr>
            </a:pPr>
            <a:r>
              <a:t>TECHNICAL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27248"/>
            <a:ext cx="1508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 i="0">
                <a:solidFill>
                  <a:srgbClr val="3B0924"/>
                </a:solidFill>
                <a:latin typeface="Aptos"/>
              </a:defRPr>
            </a:pPr>
            <a:r>
              <a:t>CONmix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127248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 i="0">
                <a:solidFill>
                  <a:srgbClr val="34252B"/>
                </a:solidFill>
                <a:latin typeface="Aptos"/>
              </a:defRPr>
            </a:pPr>
            <a:r>
              <a:t>Mix-design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20440"/>
            <a:ext cx="1508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 i="0">
                <a:solidFill>
                  <a:srgbClr val="3B0924"/>
                </a:solidFill>
                <a:latin typeface="Aptos"/>
              </a:defRPr>
            </a:pPr>
            <a:r>
              <a:t>CONarch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520440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 i="0">
                <a:solidFill>
                  <a:srgbClr val="34252B"/>
                </a:solidFill>
                <a:latin typeface="Aptos"/>
              </a:defRPr>
            </a:pPr>
            <a:r>
              <a:t>Arch design &amp;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13632"/>
            <a:ext cx="1508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 i="0">
                <a:solidFill>
                  <a:srgbClr val="3B0924"/>
                </a:solidFill>
                <a:latin typeface="Aptos"/>
              </a:defRPr>
            </a:pPr>
            <a:r>
              <a:t>CONzine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913632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 i="0">
                <a:solidFill>
                  <a:srgbClr val="34252B"/>
                </a:solidFill>
                <a:latin typeface="Aptos"/>
              </a:defRPr>
            </a:pPr>
            <a:r>
              <a:t>Smart city designing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06824"/>
            <a:ext cx="1508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 i="0">
                <a:solidFill>
                  <a:srgbClr val="3B0924"/>
                </a:solidFill>
                <a:latin typeface="Aptos"/>
              </a:defRPr>
            </a:pPr>
            <a:r>
              <a:t>CONmake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306824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 i="0">
                <a:solidFill>
                  <a:srgbClr val="34252B"/>
                </a:solidFill>
                <a:latin typeface="Aptos"/>
              </a:defRPr>
            </a:pPr>
            <a:r>
              <a:t>Model making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00016"/>
            <a:ext cx="1508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 i="0">
                <a:solidFill>
                  <a:srgbClr val="3B0924"/>
                </a:solidFill>
                <a:latin typeface="Aptos"/>
              </a:defRPr>
            </a:pPr>
            <a:r>
              <a:t>CONquest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700016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 i="0">
                <a:solidFill>
                  <a:srgbClr val="34252B"/>
                </a:solidFill>
                <a:latin typeface="Aptos"/>
              </a:defRPr>
            </a:pPr>
            <a:r>
              <a:t>Civil engineering quiz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93208"/>
            <a:ext cx="1508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 i="0">
                <a:solidFill>
                  <a:srgbClr val="3B0924"/>
                </a:solidFill>
                <a:latin typeface="Aptos"/>
              </a:defRPr>
            </a:pPr>
            <a:r>
              <a:t>CONscape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5093208"/>
            <a:ext cx="301752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 i="0">
                <a:solidFill>
                  <a:srgbClr val="34252B"/>
                </a:solidFill>
                <a:latin typeface="Aptos"/>
              </a:defRPr>
            </a:pPr>
            <a:r>
              <a:rPr dirty="0"/>
              <a:t>Surveying treasure hunt </a:t>
            </a:r>
            <a:r>
              <a:rPr lang="en-IN" dirty="0"/>
              <a:t>and </a:t>
            </a:r>
            <a:r>
              <a:rPr dirty="0"/>
              <a:t>escape room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423160"/>
            <a:ext cx="5166360" cy="3246120"/>
          </a:xfrm>
          <a:prstGeom prst="roundRect">
            <a:avLst>
              <a:gd name="adj" fmla="val 8000"/>
            </a:avLst>
          </a:prstGeom>
          <a:solidFill>
            <a:srgbClr val="521331"/>
          </a:solidFill>
          <a:ln w="12700">
            <a:solidFill>
              <a:srgbClr val="75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2697480"/>
            <a:ext cx="44805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 i="0">
                <a:solidFill>
                  <a:srgbClr val="D8C2AB"/>
                </a:solidFill>
                <a:latin typeface="Aptos"/>
              </a:defRPr>
            </a:pPr>
            <a:r>
              <a:t>NON-TECHNICAL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246120"/>
            <a:ext cx="1600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 i="0">
                <a:solidFill>
                  <a:srgbClr val="FFF8EF"/>
                </a:solidFill>
                <a:latin typeface="Aptos"/>
              </a:defRPr>
            </a:pPr>
            <a:r>
              <a:t>CONflix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246120"/>
            <a:ext cx="2743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 i="0">
                <a:solidFill>
                  <a:srgbClr val="F4E9DC"/>
                </a:solidFill>
                <a:latin typeface="Aptos"/>
              </a:defRPr>
            </a:pPr>
            <a:r>
              <a:t>Short film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959352"/>
            <a:ext cx="1600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 i="0">
                <a:solidFill>
                  <a:srgbClr val="FFF8EF"/>
                </a:solidFill>
                <a:latin typeface="Aptos"/>
              </a:defRPr>
            </a:pPr>
            <a:r>
              <a:t>CONfight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959352"/>
            <a:ext cx="2743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 i="0">
                <a:solidFill>
                  <a:srgbClr val="F4E9DC"/>
                </a:solidFill>
                <a:latin typeface="Aptos"/>
              </a:defRPr>
            </a:pPr>
            <a:r>
              <a:t>Debate 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983480"/>
            <a:ext cx="42519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 i="1">
                <a:solidFill>
                  <a:srgbClr val="D8C2AB"/>
                </a:solidFill>
                <a:latin typeface="Aptos"/>
              </a:defRPr>
            </a:pPr>
            <a:r>
              <a:rPr dirty="0"/>
              <a:t>Technical thinking meets storytelling, argument and teamwork.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 i="0">
                <a:solidFill>
                  <a:srgbClr val="3B0924"/>
                </a:solidFill>
                <a:latin typeface="Aptos"/>
              </a:defRPr>
            </a:pPr>
            <a:r>
              <a:t>06 • EVENT LINEUP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 i="0">
                <a:solidFill>
                  <a:srgbClr val="3B0924"/>
                </a:solidFill>
                <a:latin typeface="Aptos"/>
              </a:defRPr>
            </a:pPr>
            <a:r>
              <a:t>Day 1 — Design, test, plan and build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ADF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 i="0">
                <a:solidFill>
                  <a:srgbClr val="3B092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6310" y="1563279"/>
            <a:ext cx="5715000" cy="2639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11163" y="1581519"/>
            <a:ext cx="150876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 i="0">
                <a:solidFill>
                  <a:srgbClr val="3B0924"/>
                </a:solidFill>
                <a:latin typeface="Aptos"/>
              </a:defRPr>
            </a:pPr>
            <a:r>
              <a:rPr dirty="0" err="1">
                <a:solidFill>
                  <a:schemeClr val="accent2">
                    <a:lumMod val="50000"/>
                  </a:schemeClr>
                </a:solidFill>
              </a:rPr>
              <a:t>CONmix</a:t>
            </a:r>
            <a:endParaRPr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99472" y="1542186"/>
            <a:ext cx="5635850" cy="26196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1533" y="1609700"/>
            <a:ext cx="150876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 i="0">
                <a:solidFill>
                  <a:srgbClr val="3B0924"/>
                </a:solidFill>
                <a:latin typeface="Aptos"/>
              </a:defRPr>
            </a:pPr>
            <a:r>
              <a:rPr dirty="0" err="1">
                <a:solidFill>
                  <a:schemeClr val="accent2">
                    <a:lumMod val="50000"/>
                  </a:schemeClr>
                </a:solidFill>
              </a:rPr>
              <a:t>CONarch</a:t>
            </a:r>
            <a:endParaRPr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16309" y="4325722"/>
            <a:ext cx="5776219" cy="22891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60355" y="4316672"/>
            <a:ext cx="150876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 i="0">
                <a:solidFill>
                  <a:srgbClr val="3B0924"/>
                </a:solidFill>
                <a:latin typeface="Aptos"/>
              </a:defRPr>
            </a:pPr>
            <a:r>
              <a:rPr dirty="0" err="1">
                <a:solidFill>
                  <a:schemeClr val="accent2">
                    <a:lumMod val="50000"/>
                  </a:schemeClr>
                </a:solidFill>
              </a:rPr>
              <a:t>CONzine</a:t>
            </a:r>
            <a:endParaRPr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72200" y="4274748"/>
            <a:ext cx="5635850" cy="2340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00323" y="4316672"/>
            <a:ext cx="150876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 i="0">
                <a:solidFill>
                  <a:srgbClr val="3B0924"/>
                </a:solidFill>
                <a:latin typeface="Aptos"/>
              </a:defRPr>
            </a:pPr>
            <a:r>
              <a:rPr dirty="0" err="1">
                <a:solidFill>
                  <a:schemeClr val="accent2">
                    <a:lumMod val="50000"/>
                  </a:schemeClr>
                </a:solidFill>
              </a:rPr>
              <a:t>CONmake</a:t>
            </a:r>
            <a:endParaRPr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758D4B-F161-299F-4646-EEE7459592AC}"/>
              </a:ext>
            </a:extLst>
          </p:cNvPr>
          <p:cNvSpPr txBox="1"/>
          <p:nvPr/>
        </p:nvSpPr>
        <p:spPr>
          <a:xfrm>
            <a:off x="216310" y="1844671"/>
            <a:ext cx="5524598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1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Mix Design</a:t>
            </a:r>
          </a:p>
          <a:p>
            <a:pPr algn="just"/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just"/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Can you design the perfect concrete mix and prove its performance?</a:t>
            </a:r>
          </a:p>
          <a:p>
            <a:pPr algn="just"/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lvl="0" algn="just"/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Round 1 — Technical Quiz: Test your knowledge of concrete mix design and relevant IS codes through a technical quiz.</a:t>
            </a:r>
          </a:p>
          <a:p>
            <a:pPr lvl="0" algn="just"/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lvl="0" algn="just"/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Round 2 — Mix Design Challenge: Prepare a mix design, conduct slump and workability tests, and cast concrete specimens. After 20 hours, the specimens will be tested under a UTM for compressive strength to determine the best-performing mix.</a:t>
            </a:r>
          </a:p>
          <a:p>
            <a:pPr algn="just"/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Team size: 3 participants</a:t>
            </a:r>
          </a:p>
          <a:p>
            <a:pPr algn="just">
              <a:buNone/>
            </a:pPr>
            <a:endParaRPr lang="en-IN" sz="11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FA0F2B-2297-D8B4-1309-AB4135448786}"/>
              </a:ext>
            </a:extLst>
          </p:cNvPr>
          <p:cNvSpPr txBox="1"/>
          <p:nvPr/>
        </p:nvSpPr>
        <p:spPr>
          <a:xfrm>
            <a:off x="6245192" y="1960690"/>
            <a:ext cx="56358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Arch Design &amp; Build</a:t>
            </a:r>
          </a:p>
          <a:p>
            <a:pPr>
              <a:buNone/>
            </a:pPr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Design with purpose. Build with precision.</a:t>
            </a:r>
          </a:p>
          <a:p>
            <a:pPr>
              <a:buNone/>
            </a:pPr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Transform structural concepts into reality through a challenge that combines design creativity and construction skills.</a:t>
            </a:r>
          </a:p>
          <a:p>
            <a:pPr>
              <a:buNone/>
            </a:pPr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Round 1: Design an arch or bridge on paper.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Round 2: Build the designed arch or bridge.</a:t>
            </a:r>
          </a:p>
          <a:p>
            <a:pPr>
              <a:buNone/>
            </a:pPr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Team size: 4 participants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257462-4489-6E82-5BF8-AA0D68345D16}"/>
              </a:ext>
            </a:extLst>
          </p:cNvPr>
          <p:cNvSpPr txBox="1"/>
          <p:nvPr/>
        </p:nvSpPr>
        <p:spPr>
          <a:xfrm>
            <a:off x="350005" y="4615754"/>
            <a:ext cx="560857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Smart City Designing</a:t>
            </a:r>
          </a:p>
          <a:p>
            <a:pPr>
              <a:buNone/>
            </a:pPr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Imagine the cities of tomorrow and design a smarter future.</a:t>
            </a:r>
          </a:p>
          <a:p>
            <a:pPr>
              <a:buNone/>
            </a:pPr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Put your technical knowledge and urban-planning creativity to work to develop a vision for a well-planned city.</a:t>
            </a:r>
          </a:p>
          <a:p>
            <a:pPr>
              <a:buNone/>
            </a:pPr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Round 1: Technical crossword challenge.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Round 2: Town-planning drafting and presentation.</a:t>
            </a:r>
          </a:p>
          <a:p>
            <a:pPr>
              <a:buNone/>
            </a:pPr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Team size: 4–5 participants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47FBDE-B14C-9B87-1C92-A38E089F3FF0}"/>
              </a:ext>
            </a:extLst>
          </p:cNvPr>
          <p:cNvSpPr txBox="1"/>
          <p:nvPr/>
        </p:nvSpPr>
        <p:spPr>
          <a:xfrm>
            <a:off x="6208837" y="4395787"/>
            <a:ext cx="560857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1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Model Making</a:t>
            </a:r>
          </a:p>
          <a:p>
            <a:pPr algn="just"/>
            <a:endParaRPr lang="en-IN" sz="11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just"/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Visualize, create and build — transform raw materials into miniature masterpieces!</a:t>
            </a:r>
          </a:p>
          <a:p>
            <a:pPr algn="just"/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lvl="0"/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Round 1 : Dimension Estimation: Estimate the dimensions of civil engineering-related objects through visual observation, without using measuring instruments.</a:t>
            </a:r>
          </a:p>
          <a:p>
            <a:pPr lvl="0"/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lvl="0" algn="just"/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Round 2 :  Model Making: Construct a miniature house or architectural model using provided materials such as cement mortar and miniature bricks.</a:t>
            </a:r>
          </a:p>
          <a:p>
            <a:pPr algn="just"/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Team size: 3 participants</a:t>
            </a:r>
          </a:p>
          <a:p>
            <a:endParaRPr lang="en-IN" sz="11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 i="0">
                <a:solidFill>
                  <a:srgbClr val="3B0924"/>
                </a:solidFill>
                <a:latin typeface="Aptos"/>
              </a:defRPr>
            </a:pPr>
            <a:r>
              <a:t>07 • EVENT LINEUP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 i="0">
                <a:solidFill>
                  <a:srgbClr val="3B0924"/>
                </a:solidFill>
                <a:latin typeface="Aptos"/>
              </a:defRPr>
            </a:pPr>
            <a:r>
              <a:t>Day 2 — Explore, escape, express and excel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61872"/>
            <a:ext cx="11000232" cy="0"/>
          </a:xfrm>
          <a:prstGeom prst="line">
            <a:avLst/>
          </a:prstGeom>
          <a:ln w="12700">
            <a:solidFill>
              <a:srgbClr val="EADF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 i="0">
                <a:solidFill>
                  <a:srgbClr val="3B092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57" y="1452521"/>
            <a:ext cx="5166360" cy="2363781"/>
          </a:xfrm>
          <a:prstGeom prst="roundRect">
            <a:avLst>
              <a:gd name="adj" fmla="val 8000"/>
            </a:avLst>
          </a:prstGeom>
          <a:solidFill>
            <a:srgbClr val="F4E9DC"/>
          </a:solidFill>
          <a:ln w="12700">
            <a:solidFill>
              <a:srgbClr val="EA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685800" y="1600199"/>
            <a:ext cx="137160" cy="2057399"/>
          </a:xfrm>
          <a:prstGeom prst="rect">
            <a:avLst/>
          </a:prstGeom>
          <a:solidFill>
            <a:srgbClr val="3B0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38586" y="1416238"/>
            <a:ext cx="1508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 i="0">
                <a:solidFill>
                  <a:srgbClr val="3B0924"/>
                </a:solidFill>
                <a:latin typeface="Aptos"/>
              </a:defRPr>
            </a:pPr>
            <a:r>
              <a:rPr dirty="0" err="1"/>
              <a:t>CONflix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172200" y="1441164"/>
            <a:ext cx="5547852" cy="2375137"/>
          </a:xfrm>
          <a:prstGeom prst="roundRect">
            <a:avLst>
              <a:gd name="adj" fmla="val 8000"/>
            </a:avLst>
          </a:prstGeom>
          <a:solidFill>
            <a:srgbClr val="F4E9DC"/>
          </a:solidFill>
          <a:ln w="12700">
            <a:solidFill>
              <a:srgbClr val="EA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6172200" y="1600199"/>
            <a:ext cx="167642" cy="2144501"/>
          </a:xfrm>
          <a:prstGeom prst="rect">
            <a:avLst/>
          </a:prstGeom>
          <a:solidFill>
            <a:srgbClr val="3B0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37366" y="1453258"/>
            <a:ext cx="1508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 i="0">
                <a:solidFill>
                  <a:srgbClr val="3B0924"/>
                </a:solidFill>
                <a:latin typeface="Aptos"/>
              </a:defRPr>
            </a:pPr>
            <a:r>
              <a:rPr dirty="0" err="1"/>
              <a:t>CONscape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685800" y="4082794"/>
            <a:ext cx="5166360" cy="2550694"/>
          </a:xfrm>
          <a:prstGeom prst="roundRect">
            <a:avLst>
              <a:gd name="adj" fmla="val 8000"/>
            </a:avLst>
          </a:prstGeom>
          <a:solidFill>
            <a:srgbClr val="F4E9DC"/>
          </a:solidFill>
          <a:ln w="12700">
            <a:solidFill>
              <a:srgbClr val="EA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655814" y="4303950"/>
            <a:ext cx="137160" cy="2108382"/>
          </a:xfrm>
          <a:prstGeom prst="rect">
            <a:avLst/>
          </a:prstGeom>
          <a:solidFill>
            <a:srgbClr val="3B0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91" y="4066282"/>
            <a:ext cx="1508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 i="0">
                <a:solidFill>
                  <a:srgbClr val="3B0924"/>
                </a:solidFill>
                <a:latin typeface="Aptos"/>
              </a:defRPr>
            </a:pPr>
            <a:r>
              <a:rPr dirty="0" err="1"/>
              <a:t>CONfight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236062" y="4632075"/>
            <a:ext cx="315468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 i="0">
                <a:solidFill>
                  <a:srgbClr val="34252B"/>
                </a:solidFill>
                <a:latin typeface="Aptos"/>
              </a:defRPr>
            </a:pPr>
            <a:r>
              <a:rPr dirty="0"/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567" y="4082795"/>
            <a:ext cx="5496485" cy="2550693"/>
          </a:xfrm>
          <a:prstGeom prst="roundRect">
            <a:avLst>
              <a:gd name="adj" fmla="val 8000"/>
            </a:avLst>
          </a:prstGeom>
          <a:solidFill>
            <a:srgbClr val="F4E9DC"/>
          </a:solidFill>
          <a:ln w="12700">
            <a:solidFill>
              <a:srgbClr val="EA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6021" y="4386322"/>
            <a:ext cx="118872" cy="2140387"/>
          </a:xfrm>
          <a:prstGeom prst="rect">
            <a:avLst/>
          </a:prstGeom>
          <a:solidFill>
            <a:srgbClr val="3B0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6446" y="4040239"/>
            <a:ext cx="150876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 i="0">
                <a:solidFill>
                  <a:srgbClr val="3B0924"/>
                </a:solidFill>
                <a:latin typeface="Aptos"/>
              </a:defRPr>
            </a:pPr>
            <a:r>
              <a:rPr dirty="0" err="1"/>
              <a:t>CONquest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501289" y="4252014"/>
            <a:ext cx="5214148" cy="192052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 Civil Engineering Quiz</a:t>
            </a:r>
          </a:p>
          <a:p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Challenge your knowledge. Beat the buzzer. Claim the victory!</a:t>
            </a:r>
          </a:p>
          <a:p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lvl="0"/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Round 1 — Technical Quiz: Compete in a civil engineering-based MCQ or technical quiz, with the top teams qualifying for the next round.</a:t>
            </a:r>
          </a:p>
          <a:p>
            <a:pPr lvl="0"/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lvl="0"/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Round 2 — Buzzer Battle: Race to buzz in and answer technical questions. The team that answers the most questions correctly wins!</a:t>
            </a:r>
          </a:p>
          <a:p>
            <a:pPr>
              <a:defRPr sz="1300" b="0" i="0">
                <a:solidFill>
                  <a:srgbClr val="34252B"/>
                </a:solidFill>
                <a:latin typeface="Aptos"/>
              </a:defRPr>
            </a:pPr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Team Size : 4 Participants</a:t>
            </a:r>
            <a:endParaRPr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39414D-2D2C-8DB8-CC12-C25F624E1BFF}"/>
              </a:ext>
            </a:extLst>
          </p:cNvPr>
          <p:cNvSpPr txBox="1"/>
          <p:nvPr/>
        </p:nvSpPr>
        <p:spPr>
          <a:xfrm>
            <a:off x="874891" y="1710485"/>
            <a:ext cx="50229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Short Film</a:t>
            </a:r>
          </a:p>
          <a:p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  <a:ea typeface="Cambria" panose="02040503050406030204" pitchFamily="18" charset="0"/>
            </a:endParaRPr>
          </a:p>
          <a:p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Lights. Camera. Creativity! Tell a story that leaves an impact.</a:t>
            </a:r>
          </a:p>
          <a:p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Bring your storytelling and filmmaking skills together to create an engaging short film inspired by products associated with the event's sponsors.</a:t>
            </a:r>
          </a:p>
          <a:p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  <a:ea typeface="Cambria" panose="02040503050406030204" pitchFamily="18" charset="0"/>
            </a:endParaRPr>
          </a:p>
          <a:p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 Round 1:  Teams create and present a five-minute short film based on sponsor products.</a:t>
            </a:r>
          </a:p>
          <a:p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  <a:ea typeface="Cambria" panose="02040503050406030204" pitchFamily="18" charset="0"/>
            </a:endParaRPr>
          </a:p>
          <a:p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Team size: 6–7 participants · Duration: 5 minutes</a:t>
            </a:r>
          </a:p>
          <a:p>
            <a:endParaRPr lang="en-IN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0798CC-099C-4C17-8960-8FFDC06D4165}"/>
              </a:ext>
            </a:extLst>
          </p:cNvPr>
          <p:cNvSpPr txBox="1"/>
          <p:nvPr/>
        </p:nvSpPr>
        <p:spPr>
          <a:xfrm>
            <a:off x="822960" y="4325164"/>
            <a:ext cx="47702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 Debate Challenge</a:t>
            </a:r>
          </a:p>
          <a:p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Think critically. Speak confidently. Defend your ideas.</a:t>
            </a:r>
          </a:p>
          <a:p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lvl="0"/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Round 1 — Pick and Speak: Analyse a real-world problem or case study and present possible solutions in 2–3 minutes.</a:t>
            </a:r>
          </a:p>
          <a:p>
            <a:pPr lvl="0"/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lvl="0"/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Round 2 — Debate: Present and defend your arguments in a timed debate, demonstrating logical reasoning and persuasive communication.</a:t>
            </a:r>
          </a:p>
          <a:p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Team size: 3 participants · Panel: 2–3 professors</a:t>
            </a:r>
          </a:p>
          <a:p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4D90AF-02A2-7809-1A6E-68F86C7B0DDF}"/>
              </a:ext>
            </a:extLst>
          </p:cNvPr>
          <p:cNvSpPr txBox="1"/>
          <p:nvPr/>
        </p:nvSpPr>
        <p:spPr>
          <a:xfrm>
            <a:off x="6374436" y="1677196"/>
            <a:ext cx="53410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Surveying Treasure Hunt &amp; Escape Room</a:t>
            </a:r>
          </a:p>
          <a:p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Follow the clues. Explore the campus. Unlock the mystery!</a:t>
            </a:r>
          </a:p>
          <a:p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lvl="0"/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Round 1 — Surveying Treasure Hunt: Navigate the campus through a surveying-based challenge involving clues, observation and teamwork.</a:t>
            </a:r>
          </a:p>
          <a:p>
            <a:pPr lvl="0"/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lvl="0"/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Round 2 — Escape Room: Follow a series of hidden clues and solve puzzles to locate the next clue and reach the final destination within the given time.</a:t>
            </a:r>
          </a:p>
          <a:p>
            <a:r>
              <a:rPr lang="en-IN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Team size: 3–4 participants</a:t>
            </a:r>
          </a:p>
          <a:p>
            <a:endParaRPr lang="en-IN" sz="1200" b="1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0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1155680" cy="5852160"/>
          </a:xfrm>
          <a:prstGeom prst="roundRect">
            <a:avLst>
              <a:gd name="adj" fmla="val 8000"/>
            </a:avLst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 i="0">
                <a:solidFill>
                  <a:srgbClr val="A98B78"/>
                </a:solidFill>
                <a:latin typeface="Aptos"/>
              </a:defRPr>
            </a:pPr>
            <a:r>
              <a:t>ICI CHAPTER • RVCE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87552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400" b="1" i="0">
                <a:solidFill>
                  <a:srgbClr val="3B0924"/>
                </a:solidFill>
                <a:latin typeface="Aptos"/>
              </a:defRPr>
            </a:pPr>
            <a:r>
              <a:t>LET’S BUILD</a:t>
            </a:r>
            <a:br/>
            <a:r>
              <a:t>WHAT’S NEXT.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703320"/>
            <a:ext cx="9875520" cy="0"/>
          </a:xfrm>
          <a:prstGeom prst="line">
            <a:avLst/>
          </a:prstGeom>
          <a:ln w="19050">
            <a:solidFill>
              <a:srgbClr val="D8C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977639"/>
            <a:ext cx="90525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0" i="0">
                <a:solidFill>
                  <a:srgbClr val="34252B"/>
                </a:solidFill>
                <a:latin typeface="Aptos"/>
              </a:defRPr>
            </a:pPr>
            <a:r>
              <a:t>Partner with Concrete Fair 2026 and help shape the next generation of civil engineering talent.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4572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 i="0">
                <a:solidFill>
                  <a:srgbClr val="A98B78"/>
                </a:solidFill>
                <a:latin typeface="Aptos"/>
              </a:defRPr>
            </a:pPr>
            <a:r>
              <a:rPr dirty="0"/>
              <a:t>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21808"/>
            <a:ext cx="44805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 i="0">
                <a:solidFill>
                  <a:srgbClr val="3B0924"/>
                </a:solidFill>
                <a:latin typeface="Aptos"/>
              </a:defRPr>
            </a:pPr>
            <a:r>
              <a:t>ici@rvce.edu.in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9200" y="4905520"/>
            <a:ext cx="4572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 i="0">
                <a:solidFill>
                  <a:srgbClr val="A98B78"/>
                </a:solidFill>
                <a:latin typeface="Aptos"/>
              </a:defRPr>
            </a:pPr>
            <a:r>
              <a:rPr dirty="0"/>
              <a:t>ORGANIZED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6055" y="5176775"/>
            <a:ext cx="49377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 i="0">
                <a:solidFill>
                  <a:srgbClr val="34252B"/>
                </a:solidFill>
                <a:latin typeface="Aptos"/>
              </a:defRPr>
            </a:pPr>
            <a:r>
              <a:rPr dirty="0"/>
              <a:t>Department of Civil Engineering</a:t>
            </a:r>
            <a:br>
              <a:rPr dirty="0"/>
            </a:br>
            <a:r>
              <a:rPr dirty="0"/>
              <a:t>RV College of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96926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 i="0">
                <a:solidFill>
                  <a:srgbClr val="A98B78"/>
                </a:solidFill>
                <a:latin typeface="Aptos"/>
              </a:defRPr>
            </a:pPr>
            <a:r>
              <a:t>CONCRETE FAIR 2026  •  WHERE CONCRETE MEETS CREATIVITY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9D7AE0-D84F-DB7C-590C-BB196C31A8DC}"/>
              </a:ext>
            </a:extLst>
          </p:cNvPr>
          <p:cNvSpPr txBox="1"/>
          <p:nvPr/>
        </p:nvSpPr>
        <p:spPr>
          <a:xfrm>
            <a:off x="4741360" y="4904833"/>
            <a:ext cx="37854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2">
                    <a:lumMod val="75000"/>
                  </a:schemeClr>
                </a:solidFill>
              </a:rPr>
              <a:t>PHONE </a:t>
            </a:r>
          </a:p>
          <a:p>
            <a:endParaRPr lang="en-IN" sz="12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IN" sz="1200" b="1" dirty="0">
                <a:solidFill>
                  <a:schemeClr val="accent2">
                    <a:lumMod val="50000"/>
                  </a:schemeClr>
                </a:solidFill>
              </a:rPr>
              <a:t>+91 91085 73889 · +91 80036 22469</a:t>
            </a:r>
          </a:p>
          <a:p>
            <a:endParaRPr lang="en-IN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716D5B-13BC-7D7A-0B5F-23392BD35380}"/>
              </a:ext>
            </a:extLst>
          </p:cNvPr>
          <p:cNvSpPr txBox="1"/>
          <p:nvPr/>
        </p:nvSpPr>
        <p:spPr>
          <a:xfrm>
            <a:off x="2743200" y="4957271"/>
            <a:ext cx="220242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schemeClr val="bg2">
                    <a:lumMod val="75000"/>
                  </a:schemeClr>
                </a:solidFill>
                <a:latin typeface="Aptos" panose="020B0004020202020204" pitchFamily="34" charset="0"/>
              </a:rPr>
              <a:t>INSTAGRAM</a:t>
            </a:r>
          </a:p>
          <a:p>
            <a:endParaRPr lang="en-IN" sz="1400" b="1" dirty="0">
              <a:solidFill>
                <a:schemeClr val="bg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r>
              <a:rPr lang="en-IN" sz="1400" b="1" dirty="0">
                <a:latin typeface="Aptos" panose="020B0004020202020204" pitchFamily="34" charset="0"/>
              </a:rPr>
              <a:t> </a:t>
            </a:r>
            <a:r>
              <a:rPr lang="en-IN" sz="14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@icirvce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BC280C-6C10-8FAE-C7CA-EC94FA07E202}"/>
              </a:ext>
            </a:extLst>
          </p:cNvPr>
          <p:cNvSpPr txBox="1"/>
          <p:nvPr/>
        </p:nvSpPr>
        <p:spPr>
          <a:xfrm>
            <a:off x="8367252" y="712586"/>
            <a:ext cx="2700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30 NOV &amp; 1 DEC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1096</Words>
  <Application>Microsoft Office PowerPoint</Application>
  <PresentationFormat>Widescreen</PresentationFormat>
  <Paragraphs>178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Cambria</vt:lpstr>
      <vt:lpstr>Script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Monisha naik</dc:creator>
  <cp:keywords/>
  <dc:description>generated using python-pptx</dc:description>
  <cp:lastModifiedBy>Monisha naik</cp:lastModifiedBy>
  <cp:revision>3</cp:revision>
  <dcterms:created xsi:type="dcterms:W3CDTF">2013-01-27T09:14:16Z</dcterms:created>
  <dcterms:modified xsi:type="dcterms:W3CDTF">2026-10-12T17:33:03Z</dcterms:modified>
  <cp:category/>
</cp:coreProperties>
</file>